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A56C2-2F9A-52A7-E368-87D1C0F9A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64E21-248B-9B4B-8E81-8B595BFC0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AE438-BEB4-F88B-A36E-0A810B60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6FDF7-EF3D-4A3E-5DD4-A51005B7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224E9-9988-7311-F1A1-EB7CB623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6997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A09E-7C57-116A-8575-39040D2E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89C45-6B70-B756-52E9-62A8E61E7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02589-140D-5B21-0F77-41D0EB2A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3B604-3478-DE76-CA7B-855061E1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71EA9-1E4E-AA32-75C6-DB745F3E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332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6B55-31F3-D8C8-09B6-62563ABF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08799-5CFB-2B2C-678D-33D0D2B0F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E7749-5858-D28D-FCCD-29D5C05D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A17E-789E-DDD5-D530-256DEE897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39E56-EFB6-49B8-B275-9818D24E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15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D61C2-FF30-2D0B-EDF2-E976B6E4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01937-35DA-0CC8-7BCA-EEBFB3E38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66374-DF7C-7A4C-BE73-BF625B9E9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11D6E-BE1D-18B8-1D18-E65B121F1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F80B5-0089-74B1-383D-CE895E0B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F7A7E-CC24-0482-7131-6A1F2B16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17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3B06-CEF8-983B-3687-525053DA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DA286-0D23-F479-6207-D8CFFB155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A180F-F24E-F1F1-8C75-37F5EC9B7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B18D72-64E4-D187-472B-DC134349A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E0D42-4222-3870-5425-141D6D369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71175F-BC65-D78E-7D48-7A1E49D2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A0BE5-9C04-4B5A-D212-FDB989B82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AB6C1-EE96-68BF-B5C8-6058413A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9976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42AA-7366-6E3E-EAD7-25252905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D9E08-7725-37AD-434B-F9543751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E8ACB-B4A0-6223-733D-E7B8F019A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454AA-30B4-76BD-34B0-718B8876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009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8077F-F71D-4128-6D90-4C24EC27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FE1E9B-5184-F363-0F23-EEB35950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308FA-32B1-34C7-9FF3-E376E843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08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A98F0-7713-A995-45B1-1899B5AC5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B00B0-29E2-59C0-9589-780ED3989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3ECE0-07BA-2472-C774-D7AEF8A68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C3843-35E5-DF51-FF18-A207D8AC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96AECE-9C09-2212-CED7-E29E8C92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E8219-D639-A918-E2D5-EB8FCDAB1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419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5BB3-75F0-AE14-8A81-3F3BD5D7F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C26F32-F9FC-62AB-2E1D-E1CBEFD60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6C2D0-72EA-734A-F8D4-AFA4F867B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FFD99-2138-74E5-25EE-0862344A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70090-65B2-609A-904B-A21B337B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DDF4D-3753-DF1B-2FA1-E8190A26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200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63EA-0549-A472-7DBC-E3747B59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206708-CE06-2A5A-1344-212785B0F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939AF-57DC-2B06-AA87-2AF42D27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5B22-18C4-5B5D-3518-05DCEA03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23412-26DE-61B3-899F-590F3B3D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1091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9ABDC-5352-D063-6852-5EE65A07E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C108D-CA0E-19AD-2713-80B14CBEF4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7DF00-E5F6-BD47-A505-A792E020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17491-8358-5E7E-8A33-31E190A9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7ED6F-C71E-914C-9F2F-64B6522D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053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5CDF74-5732-77C8-7BAC-2335B04E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A9B33-E2EE-8251-7ED7-0F7336495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5499B-7167-516A-2888-3C3665F65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72FED-5A8A-4179-AFCD-821D38D680D3}" type="datetimeFigureOut">
              <a:rPr lang="en-CA" smtClean="0"/>
              <a:t>2025-11-12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99E59-A664-7BF8-AE37-A89BB68AD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61801-D80A-4B23-BE4A-1605BD41D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42A5A-7320-49E8-8D75-0C9B03A61B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849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02AF-D053-3191-3B65-8D57F76DE4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10-K LLM Analysis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BC0E7-8892-D666-82C0-E3525AD03E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By Frank Boal</a:t>
            </a:r>
          </a:p>
        </p:txBody>
      </p:sp>
    </p:spTree>
    <p:extLst>
      <p:ext uri="{BB962C8B-B14F-4D97-AF65-F5344CB8AC3E}">
        <p14:creationId xmlns:p14="http://schemas.microsoft.com/office/powerpoint/2010/main" val="170644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D70F-094E-E9A9-0CDF-694DB242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Project Goals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0FFDC-39FB-EA52-F5F6-08F5DFC67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Utilize Large Language Models (LLMs) to analyze companies’ 10-K filings. </a:t>
            </a:r>
          </a:p>
          <a:p>
            <a:r>
              <a:rPr lang="en-US" sz="2400" dirty="0"/>
              <a:t>Categorize pages and extract key data for analysis. </a:t>
            </a:r>
          </a:p>
          <a:p>
            <a:r>
              <a:rPr lang="en-US" sz="2400" dirty="0"/>
              <a:t>Automatically generate reports containing company analysis. </a:t>
            </a:r>
          </a:p>
          <a:p>
            <a:r>
              <a:rPr lang="en-US" sz="2400" dirty="0"/>
              <a:t>Track all AI logic and data sources.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412674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F5004-03FD-2C65-03C5-00C228890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FD4A-05DC-621B-88C3-0232B6CB7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Script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2254-8FDF-7D56-B44F-41C9DBCDD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941"/>
            <a:ext cx="5844396" cy="405834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CA" sz="2400" dirty="0"/>
              <a:t>PDF Data Setup</a:t>
            </a:r>
          </a:p>
          <a:p>
            <a:pPr lvl="1"/>
            <a:r>
              <a:rPr lang="en-CA" sz="2000" dirty="0"/>
              <a:t>Divide PDF into individual Pages</a:t>
            </a:r>
          </a:p>
          <a:p>
            <a:pPr lvl="1"/>
            <a:r>
              <a:rPr lang="en-CA" sz="2000" dirty="0"/>
              <a:t>Used PPG 2024 10K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400" dirty="0"/>
              <a:t>LLM Call One: Page Classification</a:t>
            </a:r>
          </a:p>
          <a:p>
            <a:pPr lvl="1"/>
            <a:r>
              <a:rPr lang="en-CA" sz="2000" dirty="0"/>
              <a:t>Financial Statements</a:t>
            </a:r>
          </a:p>
          <a:p>
            <a:pPr lvl="1"/>
            <a:r>
              <a:rPr lang="en-CA" sz="2000" dirty="0"/>
              <a:t>Operations and Risk</a:t>
            </a:r>
          </a:p>
          <a:p>
            <a:pPr lvl="1"/>
            <a:r>
              <a:rPr lang="en-CA" sz="2000" dirty="0"/>
              <a:t>Legal </a:t>
            </a:r>
          </a:p>
          <a:p>
            <a:pPr lvl="1"/>
            <a:r>
              <a:rPr lang="en-CA" sz="2000" dirty="0"/>
              <a:t>Debt and Loans</a:t>
            </a:r>
          </a:p>
          <a:p>
            <a:pPr lvl="1"/>
            <a:r>
              <a:rPr lang="en-CA" sz="2000" dirty="0"/>
              <a:t>Other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400" dirty="0"/>
              <a:t>LLM Call Two: Data Collection</a:t>
            </a:r>
          </a:p>
          <a:p>
            <a:pPr lvl="1"/>
            <a:r>
              <a:rPr lang="en-CA" sz="2000" dirty="0"/>
              <a:t>Created data structures to store information</a:t>
            </a:r>
          </a:p>
          <a:p>
            <a:pPr lvl="1"/>
            <a:r>
              <a:rPr lang="en-CA" sz="2000" dirty="0"/>
              <a:t>Unique for each page type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5E06E4-29B9-4879-325D-A6A925A9D789}"/>
              </a:ext>
            </a:extLst>
          </p:cNvPr>
          <p:cNvSpPr txBox="1"/>
          <p:nvPr/>
        </p:nvSpPr>
        <p:spPr>
          <a:xfrm>
            <a:off x="3384430" y="6064300"/>
            <a:ext cx="54231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Note: Uses Few-Shot Learning for Both LLM Calls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4A2C7-2BE3-2F6A-ACD4-EB79EF778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779" y="1690688"/>
            <a:ext cx="4215021" cy="28910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436B8A-D539-B905-5DD5-38036DA40CDE}"/>
              </a:ext>
            </a:extLst>
          </p:cNvPr>
          <p:cNvSpPr txBox="1"/>
          <p:nvPr/>
        </p:nvSpPr>
        <p:spPr>
          <a:xfrm>
            <a:off x="7138778" y="4743244"/>
            <a:ext cx="4215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Page Classified as Operations and Risk</a:t>
            </a:r>
          </a:p>
        </p:txBody>
      </p:sp>
    </p:spTree>
    <p:extLst>
      <p:ext uri="{BB962C8B-B14F-4D97-AF65-F5344CB8AC3E}">
        <p14:creationId xmlns:p14="http://schemas.microsoft.com/office/powerpoint/2010/main" val="176649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50589-926D-5AAA-B6D1-0D6C915A1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8A1C8-E2EC-88E0-4E40-38D7C768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6152"/>
            <a:ext cx="10515600" cy="1325563"/>
          </a:xfrm>
        </p:spPr>
        <p:txBody>
          <a:bodyPr/>
          <a:lstStyle/>
          <a:p>
            <a:r>
              <a:rPr lang="en-CA" dirty="0"/>
              <a:t>Page Data Structures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BC9A3-190A-55ED-BC23-632863DA7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911" y="2152308"/>
            <a:ext cx="4162078" cy="29935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2BA0C6-768B-9A6D-DA62-58667CEFE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4476" y="2978351"/>
            <a:ext cx="5903343" cy="1341497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CA" dirty="0"/>
              <a:t>Check Page Classification</a:t>
            </a:r>
          </a:p>
          <a:p>
            <a:pPr lvl="1"/>
            <a:r>
              <a:rPr lang="en-CA" dirty="0"/>
              <a:t>Dictionary storing keywords</a:t>
            </a:r>
          </a:p>
          <a:p>
            <a:pPr lvl="1"/>
            <a:r>
              <a:rPr lang="en-CA" dirty="0"/>
              <a:t>LLM searches keys and returns data</a:t>
            </a:r>
          </a:p>
          <a:p>
            <a:pPr lvl="1"/>
            <a:r>
              <a:rPr lang="en-CA" dirty="0"/>
              <a:t>Can easily add or remove categories</a:t>
            </a:r>
          </a:p>
        </p:txBody>
      </p:sp>
    </p:spTree>
    <p:extLst>
      <p:ext uri="{BB962C8B-B14F-4D97-AF65-F5344CB8AC3E}">
        <p14:creationId xmlns:p14="http://schemas.microsoft.com/office/powerpoint/2010/main" val="376190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D16C-AFBF-C0BA-52CD-AF75D01D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7501-110B-4E5D-5A04-AB0A8474A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7" y="359374"/>
            <a:ext cx="10515600" cy="1325563"/>
          </a:xfrm>
        </p:spPr>
        <p:txBody>
          <a:bodyPr/>
          <a:lstStyle/>
          <a:p>
            <a:r>
              <a:rPr lang="en-CA" dirty="0"/>
              <a:t>Script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C5966-1F8B-52F2-3603-14F5946C2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917" y="1736696"/>
            <a:ext cx="4904901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CA" sz="2400" dirty="0"/>
              <a:t>Data Analysis</a:t>
            </a:r>
          </a:p>
          <a:p>
            <a:pPr lvl="1"/>
            <a:r>
              <a:rPr lang="en-CA" sz="2000" dirty="0"/>
              <a:t>Profitability (ROE, ROA, Margins)</a:t>
            </a:r>
          </a:p>
          <a:p>
            <a:pPr lvl="1"/>
            <a:r>
              <a:rPr lang="en-CA" sz="2000" dirty="0"/>
              <a:t>Key Risk Summary</a:t>
            </a:r>
          </a:p>
          <a:p>
            <a:pPr lvl="1"/>
            <a:r>
              <a:rPr lang="en-CA" sz="2000" dirty="0"/>
              <a:t>Debt Covenants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CA" sz="2400" dirty="0"/>
              <a:t>Report Generation</a:t>
            </a:r>
          </a:p>
          <a:p>
            <a:pPr lvl="1"/>
            <a:r>
              <a:rPr lang="en-CA" sz="2000" dirty="0"/>
              <a:t>Summarize Analysis </a:t>
            </a:r>
          </a:p>
          <a:p>
            <a:pPr lvl="1"/>
            <a:r>
              <a:rPr lang="en-CA" sz="2000" dirty="0"/>
              <a:t>Page number for quick reference to the Original</a:t>
            </a:r>
          </a:p>
          <a:p>
            <a:pPr lvl="1"/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54B978-25D7-2854-AE3A-C71BCDF4F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717" y="1215511"/>
            <a:ext cx="5580298" cy="38589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2BCB2E-7D88-539E-59B0-F3A063E8CFA2}"/>
              </a:ext>
            </a:extLst>
          </p:cNvPr>
          <p:cNvSpPr txBox="1"/>
          <p:nvPr/>
        </p:nvSpPr>
        <p:spPr>
          <a:xfrm>
            <a:off x="6577355" y="5273157"/>
            <a:ext cx="42150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MD&amp;A Performance Summary</a:t>
            </a:r>
          </a:p>
        </p:txBody>
      </p:sp>
    </p:spTree>
    <p:extLst>
      <p:ext uri="{BB962C8B-B14F-4D97-AF65-F5344CB8AC3E}">
        <p14:creationId xmlns:p14="http://schemas.microsoft.com/office/powerpoint/2010/main" val="990361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7E7E-6E90-665A-507B-CE06520D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Model Statistic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B48EC-E7FC-D10D-8F2B-9AC4189C2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3867"/>
            <a:ext cx="10515600" cy="4351338"/>
          </a:xfrm>
        </p:spPr>
        <p:txBody>
          <a:bodyPr/>
          <a:lstStyle/>
          <a:p>
            <a:r>
              <a:rPr lang="en-CA" dirty="0"/>
              <a:t>Runtime of Approximately Two Hours</a:t>
            </a:r>
          </a:p>
          <a:p>
            <a:r>
              <a:rPr lang="en-CA" dirty="0"/>
              <a:t>Cost Per Run of approximately $3</a:t>
            </a:r>
          </a:p>
          <a:p>
            <a:r>
              <a:rPr lang="en-CA" dirty="0"/>
              <a:t>Effectively located written data </a:t>
            </a:r>
          </a:p>
          <a:p>
            <a:r>
              <a:rPr lang="en-CA" dirty="0"/>
              <a:t>Difficulty consistently locating Financial Statement Data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051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D976E-10BB-4D81-1CE2-C30EA647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E9D6-293D-7743-CF0B-618F3C6A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FB8C1-FEC8-0BDC-6947-2002E7C3C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9618"/>
            <a:ext cx="10515600" cy="4351338"/>
          </a:xfrm>
        </p:spPr>
        <p:txBody>
          <a:bodyPr>
            <a:normAutofit/>
          </a:bodyPr>
          <a:lstStyle/>
          <a:p>
            <a:r>
              <a:rPr lang="en-CA" dirty="0"/>
              <a:t>More efficient data collection</a:t>
            </a:r>
          </a:p>
          <a:p>
            <a:pPr lvl="1"/>
            <a:r>
              <a:rPr lang="en-CA" dirty="0"/>
              <a:t>EDGAR API to pull directly from SEC filings</a:t>
            </a:r>
          </a:p>
          <a:p>
            <a:pPr lvl="1"/>
            <a:r>
              <a:rPr lang="en-CA" dirty="0"/>
              <a:t>Deterministic Financial Statement Data</a:t>
            </a:r>
          </a:p>
          <a:p>
            <a:pPr lvl="1"/>
            <a:r>
              <a:rPr lang="en-CA" dirty="0"/>
              <a:t>No PDF reading </a:t>
            </a:r>
          </a:p>
          <a:p>
            <a:r>
              <a:rPr lang="en-CA" dirty="0"/>
              <a:t>Use Data Analysis-specific LLM</a:t>
            </a:r>
          </a:p>
          <a:p>
            <a:pPr lvl="1"/>
            <a:r>
              <a:rPr lang="en-CA" dirty="0"/>
              <a:t>AWS Bedrock</a:t>
            </a:r>
          </a:p>
          <a:p>
            <a:r>
              <a:rPr lang="en-CA" dirty="0"/>
              <a:t>Add more data sources</a:t>
            </a:r>
          </a:p>
          <a:p>
            <a:pPr lvl="1"/>
            <a:r>
              <a:rPr lang="en-CA" dirty="0"/>
              <a:t>Website Data Scraping</a:t>
            </a:r>
          </a:p>
          <a:p>
            <a:pPr lvl="1"/>
            <a:r>
              <a:rPr lang="en-CA" dirty="0"/>
              <a:t>Extend to 10-Qs, Form 4s, etc.</a:t>
            </a:r>
          </a:p>
          <a:p>
            <a:pPr lvl="1"/>
            <a:r>
              <a:rPr lang="en-CA" dirty="0" err="1"/>
              <a:t>FinMem</a:t>
            </a:r>
            <a:r>
              <a:rPr lang="en-CA" dirty="0"/>
              <a:t> Paper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30059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2505</TotalTime>
  <Words>233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10-K LLM Analysis Model</vt:lpstr>
      <vt:lpstr>Project Goals</vt:lpstr>
      <vt:lpstr>Script Workflow</vt:lpstr>
      <vt:lpstr>Page Data Structures</vt:lpstr>
      <vt:lpstr>Script Workflow</vt:lpstr>
      <vt:lpstr>Model Statistic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boal</dc:creator>
  <cp:lastModifiedBy>frank boal</cp:lastModifiedBy>
  <cp:revision>3</cp:revision>
  <dcterms:created xsi:type="dcterms:W3CDTF">2025-11-12T01:01:53Z</dcterms:created>
  <dcterms:modified xsi:type="dcterms:W3CDTF">2025-11-14T14:41:44Z</dcterms:modified>
</cp:coreProperties>
</file>